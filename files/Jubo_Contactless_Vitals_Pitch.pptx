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solidFill>
            <a:srgbClr val="0B7A8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640080"/>
            <a:ext cx="2560320" cy="2560320"/>
          </a:xfrm>
          <a:prstGeom prst="ellipse">
            <a:avLst/>
          </a:prstGeom>
          <a:solidFill>
            <a:srgbClr val="3FC1C9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846320"/>
            <a:ext cx="3291840" cy="3291840"/>
          </a:xfrm>
          <a:prstGeom prst="ellipse">
            <a:avLst/>
          </a:prstGeom>
          <a:solidFill>
            <a:srgbClr val="0B7A85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C1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× PARTNERSHIP CONCEPT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169164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Contactless Vitals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3FC1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Super-Aged Society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10-second, camera-based health screening layer — built to plug into Jubo's AI care ecosystem across Taiwan &amp; East Asia.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1783080" cy="475488"/>
          </a:xfrm>
          <a:prstGeom prst="roundRect">
            <a:avLst>
              <a:gd name="adj" fmla="val 50000"/>
            </a:avLst>
          </a:prstGeom>
          <a:solidFill>
            <a:srgbClr val="0B7A8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8920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rPPG 臉部量測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34640" y="4892040"/>
            <a:ext cx="1627632" cy="475488"/>
          </a:xfrm>
          <a:prstGeom prst="roundRect">
            <a:avLst>
              <a:gd name="adj" fmla="val 50000"/>
            </a:avLst>
          </a:prstGeom>
          <a:solidFill>
            <a:srgbClr val="0B7A85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489204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長照機構 B2B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90872" y="4892040"/>
            <a:ext cx="1472184" cy="475488"/>
          </a:xfrm>
          <a:prstGeom prst="roundRect">
            <a:avLst>
              <a:gd name="adj" fmla="val 50000"/>
            </a:avLst>
          </a:prstGeom>
          <a:solidFill>
            <a:srgbClr val="0B7A85"/>
          </a:solidFill>
          <a:ln/>
        </p:spPr>
      </p:sp>
      <p:sp>
        <p:nvSpPr>
          <p:cNvPr id="13" name="Text 11"/>
          <p:cNvSpPr/>
          <p:nvPr/>
        </p:nvSpPr>
        <p:spPr>
          <a:xfrm>
            <a:off x="4690872" y="4892040"/>
            <a:ext cx="1472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智慧預警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MoodMons · @magicmonx    |    Prepared for Jubo 智齡科技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4672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demographic wave meets a proven technology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EAF6F7"/>
          </a:solidFill>
          <a:ln/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29968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7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42416" y="27889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Taiwan's population is 65+ in 2026 — a certified super-aged society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75888" y="182880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EAF6F7"/>
          </a:solidFill>
          <a:ln/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21608" y="2029968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7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$34B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895344" y="27889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elderly-care apps market by 2035, ~16% CAGR; monitoring leads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28816" y="182880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EAF6F7"/>
          </a:solidFill>
          <a:ln/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74536" y="2029968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7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bpm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748272" y="27889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rPPG pulse accuracy vs ECG in 2026 clinical validation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381744" y="182880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EAF6F7"/>
          </a:solidFill>
          <a:ln/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27464" y="2029968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7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2,700+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601200" y="27889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facilities already in Jubo's institutional network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10515600" cy="1965960"/>
          </a:xfrm>
          <a:prstGeom prst="roundRect">
            <a:avLst>
              <a:gd name="adj" fmla="val 5581"/>
            </a:avLst>
          </a:prstGeom>
          <a:solidFill>
            <a:srgbClr val="132A32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4617720"/>
            <a:ext cx="566928" cy="56692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96596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FC1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we close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965960" y="493776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E4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still log vital signs by hand. Families of aging parents have no easy way to check on them between visits. </a:t>
            </a:r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camera-based reading — no cuff, no wearable — feeds both, and flows straight into Jubo's existing care records.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822960" y="63825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Taiwan super-aged classification 2026; elderly-care apps market forecasts 2026; rPPG clinical validation (Feb 2026); Jubo company figures.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concept, three 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4672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measurement core, three routes to market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364992" cy="3977640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2700">
            <a:solidFill>
              <a:srgbClr val="E1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176272"/>
            <a:ext cx="868680" cy="868680"/>
          </a:xfrm>
          <a:prstGeom prst="ellipse">
            <a:avLst/>
          </a:prstGeom>
          <a:solidFill>
            <a:srgbClr val="EAF6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2386584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27832" y="2139696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CE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152144" y="324612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9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· INSTITUTIONAL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52144" y="356616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Facility Vitals Station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52144" y="4206240"/>
            <a:ext cx="2761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scan a resident's face in 10s → BP, HR, SpO₂ auto-logged into Jubo care records. Kills manual entry and redundant work.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152144" y="5239512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32A32"/>
          </a:solidFill>
          <a:ln/>
        </p:spPr>
      </p:sp>
      <p:sp>
        <p:nvSpPr>
          <p:cNvPr id="12" name="Text 9"/>
          <p:cNvSpPr/>
          <p:nvPr/>
        </p:nvSpPr>
        <p:spPr>
          <a:xfrm>
            <a:off x="1152144" y="52395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strategic fit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62272" y="1828800"/>
            <a:ext cx="3364992" cy="3977640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2700">
            <a:solidFill>
              <a:srgbClr val="E1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82312" y="2176272"/>
            <a:ext cx="868680" cy="868680"/>
          </a:xfrm>
          <a:prstGeom prst="ellipse">
            <a:avLst/>
          </a:prstGeom>
          <a:solidFill>
            <a:srgbClr val="EAF6F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2386584"/>
            <a:ext cx="448056" cy="4480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67144" y="2139696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CE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4791456" y="324612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9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· FAMILY CHANNEL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791456" y="356616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安心 Family Bridge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4791456" y="4206240"/>
            <a:ext cx="2761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children monitor a parent remotely. Home reading syncs; family gets smart alerts on anomalies. Rides the fastest-growing buyer channel.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791456" y="5239512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32A32"/>
          </a:solidFill>
          <a:ln/>
        </p:spPr>
      </p:sp>
      <p:sp>
        <p:nvSpPr>
          <p:cNvPr id="21" name="Text 17"/>
          <p:cNvSpPr/>
          <p:nvPr/>
        </p:nvSpPr>
        <p:spPr>
          <a:xfrm>
            <a:off x="4791456" y="52395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acquisition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101584" y="1828800"/>
            <a:ext cx="3364992" cy="3977640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2700">
            <a:solidFill>
              <a:srgbClr val="E1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421624" y="2176272"/>
            <a:ext cx="868680" cy="868680"/>
          </a:xfrm>
          <a:prstGeom prst="ellipse">
            <a:avLst/>
          </a:prstGeom>
          <a:solidFill>
            <a:srgbClr val="EAF6F7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386584"/>
            <a:ext cx="448056" cy="4480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506456" y="2139696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CE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26" name="Text 21"/>
          <p:cNvSpPr/>
          <p:nvPr/>
        </p:nvSpPr>
        <p:spPr>
          <a:xfrm>
            <a:off x="8430768" y="324612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9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PREVENTION LAYER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430768" y="356616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Early-Warning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8430768" y="4206240"/>
            <a:ext cx="2761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vitals + AI that flags deterioration before a crisis. Reframes the app from tool to prevention system.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8430768" y="5239512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32A32"/>
          </a:solidFill>
          <a:ln/>
        </p:spPr>
      </p:sp>
      <p:sp>
        <p:nvSpPr>
          <p:cNvPr id="30" name="Text 25"/>
          <p:cNvSpPr/>
          <p:nvPr/>
        </p:nvSpPr>
        <p:spPr>
          <a:xfrm>
            <a:off x="8430768" y="52395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trend-aligned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937760"/>
            <a:ext cx="3840480" cy="3840480"/>
          </a:xfrm>
          <a:prstGeom prst="ellipse">
            <a:avLst/>
          </a:prstGeom>
          <a:solidFill>
            <a:srgbClr val="0B7A85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C1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8412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screening layer on top of Jubo's ecosystem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248716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9344" y="2258568"/>
            <a:ext cx="914400" cy="914400"/>
          </a:xfrm>
          <a:prstGeom prst="ellipse">
            <a:avLst/>
          </a:prstGeom>
          <a:solidFill>
            <a:srgbClr val="EAF6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9656" y="2468880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6440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51560" y="363016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10-sec facial scan on phone or facility tablet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91840" y="278892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C1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639312" y="1965960"/>
            <a:ext cx="248716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25696" y="2258568"/>
            <a:ext cx="914400" cy="914400"/>
          </a:xfrm>
          <a:prstGeom prst="ellipse">
            <a:avLst/>
          </a:prstGeom>
          <a:solidFill>
            <a:srgbClr val="EAF6F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468880"/>
            <a:ext cx="493776" cy="4937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326440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867912" y="363016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flow into Jubo care records &amp; history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08192" y="278892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C1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455664" y="1965960"/>
            <a:ext cx="248716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42048" y="2258568"/>
            <a:ext cx="914400" cy="914400"/>
          </a:xfrm>
          <a:prstGeom prst="ellipse">
            <a:avLst/>
          </a:prstGeom>
          <a:solidFill>
            <a:srgbClr val="EAF6F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468880"/>
            <a:ext cx="493776" cy="4937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55664" y="326440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684264" y="363016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anomalies to staff &amp; family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924544" y="278892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C1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9272016" y="1965960"/>
            <a:ext cx="248716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058400" y="2258568"/>
            <a:ext cx="914400" cy="914400"/>
          </a:xfrm>
          <a:prstGeom prst="ellipse">
            <a:avLst/>
          </a:prstGeom>
          <a:solidFill>
            <a:srgbClr val="EAF6F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8712" y="2468880"/>
            <a:ext cx="493776" cy="49377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72016" y="326440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9500616" y="363016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clinicians, insurers, referral network</a:t>
            </a:r>
            <a:endParaRPr lang="en-US" sz="12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754880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63040" y="469087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moat: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DC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Jubo's 2,700+ facilities and professional network are the distribution rivals can't copy. The technology is the wedge; the relationships are the defense.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868680" y="58064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i="1" dirty="0">
                <a:solidFill>
                  <a:srgbClr val="F4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caution:  </a:t>
            </a:r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BFD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rPPG blood pressure is screening-grade (±5–12 mmHg), not diagnostic. Position as trend monitoring with cuff confirmation — key for medical-market regulatory framing.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start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4672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focused first move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38928" cy="1371600"/>
          </a:xfrm>
          <a:prstGeom prst="roundRect">
            <a:avLst>
              <a:gd name="adj" fmla="val 6667"/>
            </a:avLst>
          </a:prstGeom>
          <a:solidFill>
            <a:srgbClr val="EAF6F7"/>
          </a:solidFill>
          <a:ln/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2212848"/>
            <a:ext cx="603504" cy="603504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22128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920240" y="2048256"/>
            <a:ext cx="3813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Concept 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920240" y="2414016"/>
            <a:ext cx="3813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Facility Vitals Station in 2–3 Jubo partner sites. Measure time saved on manual vital-sign logging vs. baseline.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91072" y="1828800"/>
            <a:ext cx="5138928" cy="1371600"/>
          </a:xfrm>
          <a:prstGeom prst="roundRect">
            <a:avLst>
              <a:gd name="adj" fmla="val 6667"/>
            </a:avLst>
          </a:prstGeom>
          <a:solidFill>
            <a:srgbClr val="EAF6F7"/>
          </a:solidFill>
          <a:ln/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212848"/>
            <a:ext cx="603504" cy="603504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2128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88352" y="2048256"/>
            <a:ext cx="3813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the integration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88352" y="2414016"/>
            <a:ext cx="3813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rPPG reading writes cleanly into Jubo care records and surfaces in existing staff handoff (交班) views.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401568"/>
            <a:ext cx="5138928" cy="1371600"/>
          </a:xfrm>
          <a:prstGeom prst="roundRect">
            <a:avLst>
              <a:gd name="adj" fmla="val 6667"/>
            </a:avLst>
          </a:prstGeom>
          <a:solidFill>
            <a:srgbClr val="EAF6F7"/>
          </a:solidFill>
          <a:ln/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15568" y="3785616"/>
            <a:ext cx="603504" cy="603504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37856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920240" y="3621024"/>
            <a:ext cx="3813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the family bridge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920240" y="3986784"/>
            <a:ext cx="3813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Concept 02 to families of piloted residents — test the 安心 alert loop and the adult-child acquisition channel.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91072" y="3401568"/>
            <a:ext cx="5138928" cy="1371600"/>
          </a:xfrm>
          <a:prstGeom prst="roundRect">
            <a:avLst>
              <a:gd name="adj" fmla="val 6667"/>
            </a:avLst>
          </a:prstGeom>
          <a:solidFill>
            <a:srgbClr val="EAF6F7"/>
          </a:solidFill>
          <a:ln/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3785616"/>
            <a:ext cx="603504" cy="603504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7856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88352" y="3621024"/>
            <a:ext cx="3813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for regulators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88352" y="3986784"/>
            <a:ext cx="3813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screening-not-diagnosis positioning and cuff-confirmation guidance before any medical-context claims in TW / JP.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5212080"/>
            <a:ext cx="10497312" cy="960120"/>
          </a:xfrm>
          <a:prstGeom prst="roundRect">
            <a:avLst>
              <a:gd name="adj" fmla="val 9524"/>
            </a:avLst>
          </a:prstGeom>
          <a:solidFill>
            <a:srgbClr val="132A32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5504688"/>
            <a:ext cx="411480" cy="4114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783080" y="5413248"/>
            <a:ext cx="9235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in one line:  </a:t>
            </a:r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Jubo facility and family a 10-second, cuff-free way to read health — and let the data do the rest.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Contactless Vitals × Jubo</dc:title>
  <dc:subject>PptxGenJS Presentation</dc:subject>
  <dc:creator>MoodMons / Magic</dc:creator>
  <cp:lastModifiedBy>MoodMons / Magic</cp:lastModifiedBy>
  <cp:revision>1</cp:revision>
  <dcterms:created xsi:type="dcterms:W3CDTF">2026-07-02T14:21:43Z</dcterms:created>
  <dcterms:modified xsi:type="dcterms:W3CDTF">2026-07-02T14:21:43Z</dcterms:modified>
</cp:coreProperties>
</file>